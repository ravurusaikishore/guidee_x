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3" r:id="rId21"/>
    <p:sldId id="28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8000" b="1" dirty="0">
                <a:solidFill>
                  <a:srgbClr val="C00000"/>
                </a:solidFill>
                <a:latin typeface="Baskerville Old Face" pitchFamily="18" charset="0"/>
              </a:rPr>
              <a:t>Outlier Detection</a:t>
            </a:r>
          </a:p>
        </p:txBody>
      </p:sp>
      <p:sp>
        <p:nvSpPr>
          <p:cNvPr id="3" name="Subtitle 2"/>
          <p:cNvSpPr>
            <a:spLocks noGrp="1"/>
          </p:cNvSpPr>
          <p:nvPr>
            <p:ph type="subTitle" idx="1"/>
          </p:nvPr>
        </p:nvSpPr>
        <p:spPr>
          <a:xfrm>
            <a:off x="5257800" y="4267200"/>
            <a:ext cx="3200400" cy="1752600"/>
          </a:xfrm>
        </p:spPr>
        <p:txBody>
          <a:bodyPr/>
          <a:lstStyle/>
          <a:p>
            <a:pPr algn="l"/>
            <a:r>
              <a:rPr lang="en-US" sz="2400" b="1" dirty="0">
                <a:solidFill>
                  <a:srgbClr val="00B050"/>
                </a:solidFill>
              </a:rPr>
              <a:t>   </a:t>
            </a:r>
            <a:endParaRPr lang="en-US" dirty="0">
              <a:solidFill>
                <a:schemeClr val="tx1"/>
              </a:solidFill>
            </a:endParaRPr>
          </a:p>
        </p:txBody>
      </p:sp>
    </p:spTree>
    <p:extLst>
      <p:ext uri="{BB962C8B-B14F-4D97-AF65-F5344CB8AC3E}">
        <p14:creationId xmlns:p14="http://schemas.microsoft.com/office/powerpoint/2010/main" val="1422386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Credit Card Fraud Detection</a:t>
            </a:r>
          </a:p>
        </p:txBody>
      </p:sp>
      <p:sp>
        <p:nvSpPr>
          <p:cNvPr id="3" name="Content Placeholder 2"/>
          <p:cNvSpPr>
            <a:spLocks noGrp="1"/>
          </p:cNvSpPr>
          <p:nvPr>
            <p:ph idx="1"/>
          </p:nvPr>
        </p:nvSpPr>
        <p:spPr/>
        <p:txBody>
          <a:bodyPr>
            <a:normAutofit fontScale="92500" lnSpcReduction="20000"/>
          </a:bodyPr>
          <a:lstStyle/>
          <a:p>
            <a:r>
              <a:rPr lang="en-US" dirty="0"/>
              <a:t>To protect customers from credit card fraud, companies pay special attention to card usages that are rather different from typical cases. </a:t>
            </a:r>
          </a:p>
          <a:p>
            <a:r>
              <a:rPr lang="en-US" dirty="0"/>
              <a:t>If a purchase amount is much bigger than usual amount for a card owner</a:t>
            </a:r>
          </a:p>
          <a:p>
            <a:r>
              <a:rPr lang="en-US" dirty="0"/>
              <a:t>If the purchase occurs far from the owner’s resident city</a:t>
            </a:r>
          </a:p>
          <a:p>
            <a:r>
              <a:rPr lang="en-US" dirty="0"/>
              <a:t>Then the purchase is suspicious. </a:t>
            </a:r>
          </a:p>
          <a:p>
            <a:r>
              <a:rPr lang="en-US" dirty="0"/>
              <a:t>Transaction auditor want to detect such transactions as soon as they occur and contact the card owner for veriﬁcation. </a:t>
            </a:r>
          </a:p>
        </p:txBody>
      </p:sp>
    </p:spTree>
    <p:extLst>
      <p:ext uri="{BB962C8B-B14F-4D97-AF65-F5344CB8AC3E}">
        <p14:creationId xmlns:p14="http://schemas.microsoft.com/office/powerpoint/2010/main" val="4039123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Credit Card Fraud Detection</a:t>
            </a:r>
          </a:p>
        </p:txBody>
      </p:sp>
      <p:sp>
        <p:nvSpPr>
          <p:cNvPr id="3" name="Content Placeholder 2"/>
          <p:cNvSpPr>
            <a:spLocks noGrp="1"/>
          </p:cNvSpPr>
          <p:nvPr>
            <p:ph idx="1"/>
          </p:nvPr>
        </p:nvSpPr>
        <p:spPr/>
        <p:txBody>
          <a:bodyPr>
            <a:normAutofit fontScale="92500"/>
          </a:bodyPr>
          <a:lstStyle/>
          <a:p>
            <a:r>
              <a:rPr lang="en-US" dirty="0"/>
              <a:t>Which situations fraud will occur?</a:t>
            </a:r>
          </a:p>
          <a:p>
            <a:r>
              <a:rPr lang="en-US" dirty="0"/>
              <a:t>If a credit card is stolen, its transaction pattern usually changes dramatically</a:t>
            </a:r>
          </a:p>
          <a:p>
            <a:r>
              <a:rPr lang="en-US" dirty="0"/>
              <a:t>The locations of purchases and the items purchased are often very different from those of the authentic card owner and other customers.</a:t>
            </a:r>
          </a:p>
          <a:p>
            <a:r>
              <a:rPr lang="en-US" dirty="0"/>
              <a:t>An essential idea behind credit card fraud detection is to identify those transactions that are very different from the norm. </a:t>
            </a:r>
          </a:p>
        </p:txBody>
      </p:sp>
    </p:spTree>
    <p:extLst>
      <p:ext uri="{BB962C8B-B14F-4D97-AF65-F5344CB8AC3E}">
        <p14:creationId xmlns:p14="http://schemas.microsoft.com/office/powerpoint/2010/main" val="296331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Outlier Detection</a:t>
            </a:r>
          </a:p>
        </p:txBody>
      </p:sp>
      <p:sp>
        <p:nvSpPr>
          <p:cNvPr id="3" name="Content Placeholder 2"/>
          <p:cNvSpPr>
            <a:spLocks noGrp="1"/>
          </p:cNvSpPr>
          <p:nvPr>
            <p:ph idx="1"/>
          </p:nvPr>
        </p:nvSpPr>
        <p:spPr/>
        <p:txBody>
          <a:bodyPr>
            <a:normAutofit fontScale="92500" lnSpcReduction="10000"/>
          </a:bodyPr>
          <a:lstStyle/>
          <a:p>
            <a:r>
              <a:rPr lang="en-US" dirty="0"/>
              <a:t>Outlier detection is the process of ﬁnding data objects with behaviors that are very different from expectation. </a:t>
            </a:r>
          </a:p>
          <a:p>
            <a:r>
              <a:rPr lang="en-US" dirty="0"/>
              <a:t>Such objects are called outliers or anomalies. </a:t>
            </a:r>
          </a:p>
          <a:p>
            <a:r>
              <a:rPr lang="en-US" dirty="0"/>
              <a:t>Outlier detection is important in many applications in addition to fraud detection such as medical care, public safety and security, industry damage detection, image processing, sensor/video network surveillance, and intrusion detection. </a:t>
            </a:r>
          </a:p>
        </p:txBody>
      </p:sp>
    </p:spTree>
    <p:extLst>
      <p:ext uri="{BB962C8B-B14F-4D97-AF65-F5344CB8AC3E}">
        <p14:creationId xmlns:p14="http://schemas.microsoft.com/office/powerpoint/2010/main" val="17945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Clustering </a:t>
            </a:r>
            <a:r>
              <a:rPr lang="en-US" dirty="0" err="1">
                <a:solidFill>
                  <a:srgbClr val="0070C0"/>
                </a:solidFill>
              </a:rPr>
              <a:t>vs</a:t>
            </a:r>
            <a:r>
              <a:rPr lang="en-US" dirty="0">
                <a:solidFill>
                  <a:srgbClr val="0070C0"/>
                </a:solidFill>
              </a:rPr>
              <a:t> Outlier Detection</a:t>
            </a:r>
          </a:p>
        </p:txBody>
      </p:sp>
      <p:sp>
        <p:nvSpPr>
          <p:cNvPr id="3" name="Content Placeholder 2"/>
          <p:cNvSpPr>
            <a:spLocks noGrp="1"/>
          </p:cNvSpPr>
          <p:nvPr>
            <p:ph idx="1"/>
          </p:nvPr>
        </p:nvSpPr>
        <p:spPr/>
        <p:txBody>
          <a:bodyPr>
            <a:normAutofit/>
          </a:bodyPr>
          <a:lstStyle/>
          <a:p>
            <a:r>
              <a:rPr lang="en-US" dirty="0"/>
              <a:t>Outlier detection and clustering analysis are two highly related tasks. </a:t>
            </a:r>
          </a:p>
          <a:p>
            <a:r>
              <a:rPr lang="en-US" dirty="0"/>
              <a:t>Clustering ﬁnds the majority patterns in a data set and organizes the data accordingly</a:t>
            </a:r>
          </a:p>
          <a:p>
            <a:r>
              <a:rPr lang="en-US" dirty="0"/>
              <a:t>Outlier detection tries to capture those exceptional cases that deviate substantially from the majority patterns.</a:t>
            </a:r>
          </a:p>
        </p:txBody>
      </p:sp>
    </p:spTree>
    <p:extLst>
      <p:ext uri="{BB962C8B-B14F-4D97-AF65-F5344CB8AC3E}">
        <p14:creationId xmlns:p14="http://schemas.microsoft.com/office/powerpoint/2010/main" val="4125922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rPr>
              <a:t>Outliers</a:t>
            </a:r>
          </a:p>
        </p:txBody>
      </p:sp>
      <p:sp>
        <p:nvSpPr>
          <p:cNvPr id="3" name="Content Placeholder 2"/>
          <p:cNvSpPr>
            <a:spLocks noGrp="1"/>
          </p:cNvSpPr>
          <p:nvPr>
            <p:ph idx="1"/>
          </p:nvPr>
        </p:nvSpPr>
        <p:spPr>
          <a:xfrm>
            <a:off x="457200" y="1600200"/>
            <a:ext cx="4627418" cy="4525963"/>
          </a:xfrm>
        </p:spPr>
        <p:txBody>
          <a:bodyPr>
            <a:normAutofit fontScale="85000" lnSpcReduction="10000"/>
          </a:bodyPr>
          <a:lstStyle/>
          <a:p>
            <a:r>
              <a:rPr lang="en-US" dirty="0"/>
              <a:t>An outlier is a data object that deviates signiﬁcantly from the rest of the objects, as if it were generated by a different mechanism mostly  Gaussian distribution.</a:t>
            </a:r>
          </a:p>
          <a:p>
            <a:r>
              <a:rPr lang="en-US" dirty="0"/>
              <a:t>We may refer to data objects that are not outliers as “normal” or expected data. </a:t>
            </a:r>
          </a:p>
          <a:p>
            <a:r>
              <a:rPr lang="en-US" dirty="0"/>
              <a:t>Similarly, we may refer to outliers as “abnormal” data.</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4668" y="2057400"/>
            <a:ext cx="3154532" cy="31242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276326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60000"/>
                    <a:lumOff val="40000"/>
                  </a:schemeClr>
                </a:solidFill>
              </a:rPr>
              <a:t>Outliers </a:t>
            </a:r>
            <a:r>
              <a:rPr lang="en-US" dirty="0" err="1">
                <a:solidFill>
                  <a:schemeClr val="tx2">
                    <a:lumMod val="60000"/>
                    <a:lumOff val="40000"/>
                  </a:schemeClr>
                </a:solidFill>
              </a:rPr>
              <a:t>vs</a:t>
            </a:r>
            <a:r>
              <a:rPr lang="en-US" dirty="0">
                <a:solidFill>
                  <a:schemeClr val="tx2">
                    <a:lumMod val="60000"/>
                    <a:lumOff val="40000"/>
                  </a:schemeClr>
                </a:solidFill>
              </a:rPr>
              <a:t> Noise</a:t>
            </a:r>
          </a:p>
        </p:txBody>
      </p:sp>
      <p:sp>
        <p:nvSpPr>
          <p:cNvPr id="3" name="Content Placeholder 2"/>
          <p:cNvSpPr>
            <a:spLocks noGrp="1"/>
          </p:cNvSpPr>
          <p:nvPr>
            <p:ph idx="1"/>
          </p:nvPr>
        </p:nvSpPr>
        <p:spPr/>
        <p:txBody>
          <a:bodyPr>
            <a:normAutofit fontScale="70000" lnSpcReduction="20000"/>
          </a:bodyPr>
          <a:lstStyle/>
          <a:p>
            <a:r>
              <a:rPr lang="en-US" dirty="0"/>
              <a:t>Noise is a random error or variance in a measured variable. </a:t>
            </a:r>
          </a:p>
          <a:p>
            <a:r>
              <a:rPr lang="en-US" dirty="0"/>
              <a:t>In general, noise is not interesting in data analysis, including outlier detection. For example, in credit card fraud detection, a customer’s purchase behavior can be modeled as a random variable. </a:t>
            </a:r>
          </a:p>
          <a:p>
            <a:r>
              <a:rPr lang="en-US" dirty="0"/>
              <a:t>A customer may generate some “noise transactions” that may seem like “random errors” or “variance,” such as by buying a bigger lunch one day, or having one more cup of coffee than usual. </a:t>
            </a:r>
          </a:p>
          <a:p>
            <a:r>
              <a:rPr lang="en-US" dirty="0"/>
              <a:t>Such transactions should not be treated as outliers; otherwise, the credit card company would incur heavy costs from verifying that many transactions. </a:t>
            </a:r>
          </a:p>
          <a:p>
            <a:r>
              <a:rPr lang="en-US" dirty="0"/>
              <a:t>The company may also lose customers by bothering them with multiple false alarms. </a:t>
            </a:r>
          </a:p>
          <a:p>
            <a:r>
              <a:rPr lang="en-US" dirty="0"/>
              <a:t>Noise should be removed before outlier detection. </a:t>
            </a:r>
          </a:p>
        </p:txBody>
      </p:sp>
    </p:spTree>
    <p:extLst>
      <p:ext uri="{BB962C8B-B14F-4D97-AF65-F5344CB8AC3E}">
        <p14:creationId xmlns:p14="http://schemas.microsoft.com/office/powerpoint/2010/main" val="1285678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Outliers</a:t>
            </a:r>
          </a:p>
        </p:txBody>
      </p:sp>
      <p:sp>
        <p:nvSpPr>
          <p:cNvPr id="3" name="Content Placeholder 2"/>
          <p:cNvSpPr>
            <a:spLocks noGrp="1"/>
          </p:cNvSpPr>
          <p:nvPr>
            <p:ph idx="1"/>
          </p:nvPr>
        </p:nvSpPr>
        <p:spPr/>
        <p:txBody>
          <a:bodyPr>
            <a:normAutofit fontScale="92500" lnSpcReduction="10000"/>
          </a:bodyPr>
          <a:lstStyle/>
          <a:p>
            <a:r>
              <a:rPr lang="en-US" dirty="0"/>
              <a:t>Outliers are interesting because they are suspected of not being generated by the same mechanisms as the rest of the data. </a:t>
            </a:r>
          </a:p>
          <a:p>
            <a:r>
              <a:rPr lang="en-US" dirty="0"/>
              <a:t>Therefore, in outlier detection, it is important to justify why the outliers detected are generated by some other mechanisms. </a:t>
            </a:r>
          </a:p>
          <a:p>
            <a:r>
              <a:rPr lang="en-US" dirty="0"/>
              <a:t>This is often achieved by making various assumptions on the rest of the data and showing that the outliers detected violate those assumptions signiﬁcantly. </a:t>
            </a:r>
          </a:p>
        </p:txBody>
      </p:sp>
    </p:spTree>
    <p:extLst>
      <p:ext uri="{BB962C8B-B14F-4D97-AF65-F5344CB8AC3E}">
        <p14:creationId xmlns:p14="http://schemas.microsoft.com/office/powerpoint/2010/main" val="231090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Novelty Detection</a:t>
            </a:r>
          </a:p>
        </p:txBody>
      </p:sp>
      <p:sp>
        <p:nvSpPr>
          <p:cNvPr id="3" name="Content Placeholder 2"/>
          <p:cNvSpPr>
            <a:spLocks noGrp="1"/>
          </p:cNvSpPr>
          <p:nvPr>
            <p:ph idx="1"/>
          </p:nvPr>
        </p:nvSpPr>
        <p:spPr/>
        <p:txBody>
          <a:bodyPr>
            <a:normAutofit fontScale="77500" lnSpcReduction="20000"/>
          </a:bodyPr>
          <a:lstStyle/>
          <a:p>
            <a:r>
              <a:rPr lang="en-US" dirty="0"/>
              <a:t>Outlier detection is also related to novelty detection in evolving datasets. </a:t>
            </a:r>
          </a:p>
          <a:p>
            <a:r>
              <a:rPr lang="en-US" dirty="0"/>
              <a:t>For example, by monitoring a social media website where new content is incoming, novelty detection may identify new topics and trends in a timely manner.</a:t>
            </a:r>
          </a:p>
          <a:p>
            <a:r>
              <a:rPr lang="en-US" dirty="0"/>
              <a:t>Novel topics may initially appear as outliers. </a:t>
            </a:r>
          </a:p>
          <a:p>
            <a:r>
              <a:rPr lang="en-US" dirty="0"/>
              <a:t>To this extent, outlier detection and novelty detection share some similarity in modeling and detection methods. </a:t>
            </a:r>
          </a:p>
          <a:p>
            <a:r>
              <a:rPr lang="en-US" dirty="0"/>
              <a:t>However, a critical difference between the two is that in novelty detection, once new topics are conﬁrmed, they are usually incorporated into the model of normal behavior so that follow – up instances are not treated as outliers anymore.</a:t>
            </a:r>
          </a:p>
          <a:p>
            <a:endParaRPr lang="en-US" dirty="0"/>
          </a:p>
          <a:p>
            <a:endParaRPr lang="en-US" dirty="0"/>
          </a:p>
        </p:txBody>
      </p:sp>
    </p:spTree>
    <p:extLst>
      <p:ext uri="{BB962C8B-B14F-4D97-AF65-F5344CB8AC3E}">
        <p14:creationId xmlns:p14="http://schemas.microsoft.com/office/powerpoint/2010/main" val="4183883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Outliers </a:t>
            </a:r>
          </a:p>
        </p:txBody>
      </p:sp>
      <p:sp>
        <p:nvSpPr>
          <p:cNvPr id="3" name="Content Placeholder 2"/>
          <p:cNvSpPr>
            <a:spLocks noGrp="1"/>
          </p:cNvSpPr>
          <p:nvPr>
            <p:ph idx="1"/>
          </p:nvPr>
        </p:nvSpPr>
        <p:spPr/>
        <p:txBody>
          <a:bodyPr/>
          <a:lstStyle/>
          <a:p>
            <a:pPr marL="0" indent="0">
              <a:buNone/>
            </a:pPr>
            <a:r>
              <a:rPr lang="en-US" dirty="0"/>
              <a:t>Outliers can be classiﬁed into three categories</a:t>
            </a:r>
          </a:p>
          <a:p>
            <a:r>
              <a:rPr lang="en-US" dirty="0"/>
              <a:t>Global outliers or point anomalies</a:t>
            </a:r>
          </a:p>
          <a:p>
            <a:r>
              <a:rPr lang="en-US" dirty="0"/>
              <a:t>Contextual (or conditional) outliers </a:t>
            </a:r>
          </a:p>
          <a:p>
            <a:r>
              <a:rPr lang="en-US" dirty="0"/>
              <a:t>Collective outliers</a:t>
            </a:r>
          </a:p>
          <a:p>
            <a:endParaRPr lang="en-US" dirty="0"/>
          </a:p>
        </p:txBody>
      </p:sp>
    </p:spTree>
    <p:extLst>
      <p:ext uri="{BB962C8B-B14F-4D97-AF65-F5344CB8AC3E}">
        <p14:creationId xmlns:p14="http://schemas.microsoft.com/office/powerpoint/2010/main" val="2988195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Outliers</a:t>
            </a:r>
          </a:p>
        </p:txBody>
      </p:sp>
      <p:sp>
        <p:nvSpPr>
          <p:cNvPr id="3" name="Content Placeholder 2"/>
          <p:cNvSpPr>
            <a:spLocks noGrp="1"/>
          </p:cNvSpPr>
          <p:nvPr>
            <p:ph idx="1"/>
          </p:nvPr>
        </p:nvSpPr>
        <p:spPr/>
        <p:txBody>
          <a:bodyPr/>
          <a:lstStyle/>
          <a:p>
            <a:r>
              <a:rPr lang="en-US" dirty="0"/>
              <a:t>In a given dataset, a data object is a global outlier if it deviates signiﬁcantly from the rest of the dataset</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276600"/>
            <a:ext cx="3154532" cy="31242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32584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709"/>
            <a:ext cx="8229600" cy="1143000"/>
          </a:xfrm>
        </p:spPr>
        <p:txBody>
          <a:bodyPr/>
          <a:lstStyle/>
          <a:p>
            <a:r>
              <a:rPr lang="en-US" b="1" dirty="0"/>
              <a:t>Global Outliers</a:t>
            </a:r>
          </a:p>
        </p:txBody>
      </p:sp>
      <p:sp>
        <p:nvSpPr>
          <p:cNvPr id="3" name="Content Placeholder 2"/>
          <p:cNvSpPr>
            <a:spLocks noGrp="1"/>
          </p:cNvSpPr>
          <p:nvPr>
            <p:ph idx="1"/>
          </p:nvPr>
        </p:nvSpPr>
        <p:spPr>
          <a:xfrm>
            <a:off x="0" y="1066800"/>
            <a:ext cx="9144000" cy="5562600"/>
          </a:xfrm>
        </p:spPr>
        <p:txBody>
          <a:bodyPr>
            <a:noAutofit/>
          </a:bodyPr>
          <a:lstStyle/>
          <a:p>
            <a:r>
              <a:rPr lang="en-US" sz="2400" dirty="0"/>
              <a:t>To detect global outliers, a critical issue is to ﬁnd an appropriate measurement of deviation with respect to the application.</a:t>
            </a:r>
          </a:p>
          <a:p>
            <a:r>
              <a:rPr lang="en-US" sz="2400" dirty="0"/>
              <a:t>Various measurements are proposed, and, based on these, outlier detection methods are partitioned into different categories. </a:t>
            </a:r>
          </a:p>
          <a:p>
            <a:r>
              <a:rPr lang="en-US" sz="2400" dirty="0"/>
              <a:t>Global outlier detection is important in many applications. </a:t>
            </a:r>
          </a:p>
          <a:p>
            <a:r>
              <a:rPr lang="en-US" sz="2400" dirty="0"/>
              <a:t>Intrusion detection in computer networks</a:t>
            </a:r>
          </a:p>
          <a:p>
            <a:pPr lvl="1"/>
            <a:r>
              <a:rPr lang="en-US" sz="2400" dirty="0"/>
              <a:t>If the communication behavior of a computer is very different from the normal patterns (e.g., a large number of packages is broadcast in a short time), this behavior may be considered as a global outlier and the corresponding computer is a suspected victim of hacking. </a:t>
            </a:r>
          </a:p>
          <a:p>
            <a:r>
              <a:rPr lang="en-US" sz="2400" dirty="0"/>
              <a:t>Trading transaction auditing systems</a:t>
            </a:r>
          </a:p>
          <a:p>
            <a:pPr lvl="1"/>
            <a:r>
              <a:rPr lang="en-US" sz="2400" dirty="0"/>
              <a:t>Transactions that do not follow the regulations are considered as global outliers and should be held for further examination.</a:t>
            </a:r>
          </a:p>
          <a:p>
            <a:endParaRPr lang="en-US" sz="2400" dirty="0"/>
          </a:p>
        </p:txBody>
      </p:sp>
    </p:spTree>
    <p:extLst>
      <p:ext uri="{BB962C8B-B14F-4D97-AF65-F5344CB8AC3E}">
        <p14:creationId xmlns:p14="http://schemas.microsoft.com/office/powerpoint/2010/main" val="2257149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Contextual outliers </a:t>
            </a:r>
          </a:p>
        </p:txBody>
      </p:sp>
      <p:sp>
        <p:nvSpPr>
          <p:cNvPr id="3" name="Content Placeholder 2"/>
          <p:cNvSpPr>
            <a:spLocks noGrp="1"/>
          </p:cNvSpPr>
          <p:nvPr>
            <p:ph idx="1"/>
          </p:nvPr>
        </p:nvSpPr>
        <p:spPr>
          <a:xfrm>
            <a:off x="0" y="1600200"/>
            <a:ext cx="9144000" cy="5181600"/>
          </a:xfrm>
        </p:spPr>
        <p:txBody>
          <a:bodyPr>
            <a:normAutofit fontScale="92500" lnSpcReduction="20000"/>
          </a:bodyPr>
          <a:lstStyle/>
          <a:p>
            <a:pPr marL="0" indent="0" algn="ctr">
              <a:buNone/>
            </a:pPr>
            <a:r>
              <a:rPr lang="en-US" sz="3100" i="1" dirty="0">
                <a:solidFill>
                  <a:srgbClr val="FF0000"/>
                </a:solidFill>
              </a:rPr>
              <a:t>The temperature today is 40◦C. Is it exceptional (i.e., an outlier)?</a:t>
            </a:r>
          </a:p>
          <a:p>
            <a:r>
              <a:rPr lang="en-US" dirty="0"/>
              <a:t>It depends, on the time and location! </a:t>
            </a:r>
          </a:p>
          <a:p>
            <a:pPr lvl="1"/>
            <a:r>
              <a:rPr lang="en-US" dirty="0"/>
              <a:t>If it is in winter in </a:t>
            </a:r>
            <a:r>
              <a:rPr lang="en-US" dirty="0" err="1"/>
              <a:t>Nuzvid</a:t>
            </a:r>
            <a:r>
              <a:rPr lang="en-US" dirty="0"/>
              <a:t>, yes, it is an outlier. If it is a summer day, then it is normal. </a:t>
            </a:r>
          </a:p>
          <a:p>
            <a:r>
              <a:rPr lang="en-US" dirty="0"/>
              <a:t>Temperature value is an outlier depends on the context — the date,  the location, and possibly some other factors</a:t>
            </a:r>
          </a:p>
          <a:p>
            <a:r>
              <a:rPr lang="en-US" dirty="0"/>
              <a:t>In a given data set, a data object is a contextual outlier if it deviates signiﬁcantly with respect to a speciﬁc context of the object</a:t>
            </a:r>
          </a:p>
          <a:p>
            <a:r>
              <a:rPr lang="en-US" dirty="0"/>
              <a:t>In contextual outlier detection, the context has to be speciﬁed as part of the problem deﬁnition.</a:t>
            </a:r>
          </a:p>
        </p:txBody>
      </p:sp>
    </p:spTree>
    <p:extLst>
      <p:ext uri="{BB962C8B-B14F-4D97-AF65-F5344CB8AC3E}">
        <p14:creationId xmlns:p14="http://schemas.microsoft.com/office/powerpoint/2010/main" val="2833374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outliers </a:t>
            </a:r>
          </a:p>
        </p:txBody>
      </p:sp>
      <p:sp>
        <p:nvSpPr>
          <p:cNvPr id="3" name="Content Placeholder 2"/>
          <p:cNvSpPr>
            <a:spLocks noGrp="1"/>
          </p:cNvSpPr>
          <p:nvPr>
            <p:ph idx="1"/>
          </p:nvPr>
        </p:nvSpPr>
        <p:spPr>
          <a:xfrm>
            <a:off x="0" y="1295400"/>
            <a:ext cx="9144000" cy="5562600"/>
          </a:xfrm>
        </p:spPr>
        <p:txBody>
          <a:bodyPr>
            <a:normAutofit fontScale="92500" lnSpcReduction="20000"/>
          </a:bodyPr>
          <a:lstStyle/>
          <a:p>
            <a:pPr marL="0" indent="0">
              <a:buNone/>
            </a:pPr>
            <a:r>
              <a:rPr lang="en-US" dirty="0"/>
              <a:t>In contextual outlier detection, the attributes of the data objects are divided into two groups:</a:t>
            </a:r>
          </a:p>
          <a:p>
            <a:r>
              <a:rPr lang="en-US" dirty="0"/>
              <a:t>Contextual attributes: The contextual attributes of a data object deﬁne the object’s context. </a:t>
            </a:r>
          </a:p>
          <a:p>
            <a:pPr lvl="1"/>
            <a:r>
              <a:rPr lang="en-US" dirty="0"/>
              <a:t>Example, the contextual attributes may be date and location. </a:t>
            </a:r>
          </a:p>
          <a:p>
            <a:r>
              <a:rPr lang="en-US" dirty="0"/>
              <a:t>Behavioral attributes: These deﬁne the object’s characteristics, and are used to evaluate whether the object is an outlier in the context to which it belongs. </a:t>
            </a:r>
          </a:p>
          <a:p>
            <a:pPr lvl="1"/>
            <a:r>
              <a:rPr lang="en-US" dirty="0"/>
              <a:t>Example, the behavioral attributes may be the temperature, humidity, and pressure.</a:t>
            </a:r>
          </a:p>
          <a:p>
            <a:pPr marL="342900" lvl="1" indent="-342900">
              <a:buFont typeface="Arial" pitchFamily="34" charset="0"/>
              <a:buChar char="•"/>
            </a:pPr>
            <a:r>
              <a:rPr lang="en-US" dirty="0"/>
              <a:t>Conﬁguration of behavioral attribute values may be considered an outlier in one context (e.g., 40◦C is an outlier for a </a:t>
            </a:r>
            <a:r>
              <a:rPr lang="en-US" dirty="0" err="1"/>
              <a:t>Nuzvid</a:t>
            </a:r>
            <a:r>
              <a:rPr lang="en-US" dirty="0"/>
              <a:t> winter), but not an outlier in another context (e.g., 40◦C is not an outlier for a </a:t>
            </a:r>
            <a:r>
              <a:rPr lang="en-US" dirty="0" err="1"/>
              <a:t>Nuzvid</a:t>
            </a:r>
            <a:r>
              <a:rPr lang="en-US" dirty="0"/>
              <a:t> summer). </a:t>
            </a:r>
          </a:p>
          <a:p>
            <a:endParaRPr lang="en-US" dirty="0"/>
          </a:p>
        </p:txBody>
      </p:sp>
    </p:spTree>
    <p:extLst>
      <p:ext uri="{BB962C8B-B14F-4D97-AF65-F5344CB8AC3E}">
        <p14:creationId xmlns:p14="http://schemas.microsoft.com/office/powerpoint/2010/main" val="918216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outliers</a:t>
            </a:r>
          </a:p>
        </p:txBody>
      </p:sp>
      <p:sp>
        <p:nvSpPr>
          <p:cNvPr id="3" name="Content Placeholder 2"/>
          <p:cNvSpPr>
            <a:spLocks noGrp="1"/>
          </p:cNvSpPr>
          <p:nvPr>
            <p:ph idx="1"/>
          </p:nvPr>
        </p:nvSpPr>
        <p:spPr>
          <a:xfrm>
            <a:off x="0" y="1447800"/>
            <a:ext cx="9144000" cy="5410200"/>
          </a:xfrm>
        </p:spPr>
        <p:txBody>
          <a:bodyPr>
            <a:normAutofit fontScale="92500" lnSpcReduction="10000"/>
          </a:bodyPr>
          <a:lstStyle/>
          <a:p>
            <a:r>
              <a:rPr lang="en-US" dirty="0"/>
              <a:t>Contextual outliers are a generalization of local outliers, a notion density-based outlier analysis approaches. </a:t>
            </a:r>
          </a:p>
          <a:p>
            <a:r>
              <a:rPr lang="en-US" dirty="0"/>
              <a:t>An object in a data set is a local outlier if its density signiﬁcantly deviates from the local area in which it occurs. </a:t>
            </a:r>
          </a:p>
          <a:p>
            <a:endParaRPr lang="en-US" dirty="0"/>
          </a:p>
          <a:p>
            <a:r>
              <a:rPr lang="en-US" dirty="0"/>
              <a:t>Global outlier detection is a special case of contextual outlier detection where the set of contextual attributes is empty. </a:t>
            </a:r>
          </a:p>
          <a:p>
            <a:r>
              <a:rPr lang="en-US" dirty="0"/>
              <a:t>Contextual outlier analysis provides ﬂexibility to users in that one can examine outliers in different contexts, which can be highly desirable in many applications</a:t>
            </a:r>
          </a:p>
        </p:txBody>
      </p:sp>
    </p:spTree>
    <p:extLst>
      <p:ext uri="{BB962C8B-B14F-4D97-AF65-F5344CB8AC3E}">
        <p14:creationId xmlns:p14="http://schemas.microsoft.com/office/powerpoint/2010/main" val="2324799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outliers</a:t>
            </a:r>
          </a:p>
        </p:txBody>
      </p:sp>
      <p:sp>
        <p:nvSpPr>
          <p:cNvPr id="3" name="Content Placeholder 2"/>
          <p:cNvSpPr>
            <a:spLocks noGrp="1"/>
          </p:cNvSpPr>
          <p:nvPr>
            <p:ph idx="1"/>
          </p:nvPr>
        </p:nvSpPr>
        <p:spPr>
          <a:xfrm>
            <a:off x="0" y="1600200"/>
            <a:ext cx="9144000" cy="5181600"/>
          </a:xfrm>
        </p:spPr>
        <p:txBody>
          <a:bodyPr>
            <a:normAutofit fontScale="92500" lnSpcReduction="10000"/>
          </a:bodyPr>
          <a:lstStyle/>
          <a:p>
            <a:r>
              <a:rPr lang="en-US" dirty="0"/>
              <a:t>The quality of contextual outlier detection depends on the meaningfulness of the contextual attributes, in addition to the measurement of the deviation of an object to the majority in the space of behavioral attributes.</a:t>
            </a:r>
          </a:p>
          <a:p>
            <a:r>
              <a:rPr lang="en-US" dirty="0"/>
              <a:t>Contextual attributes should be determined by domain experts, which can be regarded as part of the input background knowledge. </a:t>
            </a:r>
          </a:p>
          <a:p>
            <a:r>
              <a:rPr lang="en-US" dirty="0"/>
              <a:t>In many applications, neither obtaining sufﬁcient information to determine contextual attributes nor collecting high-quality contextual attribute data is easy. </a:t>
            </a:r>
          </a:p>
        </p:txBody>
      </p:sp>
    </p:spTree>
    <p:extLst>
      <p:ext uri="{BB962C8B-B14F-4D97-AF65-F5344CB8AC3E}">
        <p14:creationId xmlns:p14="http://schemas.microsoft.com/office/powerpoint/2010/main" val="2068774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Collective Outliers</a:t>
            </a:r>
          </a:p>
        </p:txBody>
      </p:sp>
      <p:sp>
        <p:nvSpPr>
          <p:cNvPr id="3" name="Content Placeholder 2"/>
          <p:cNvSpPr>
            <a:spLocks noGrp="1"/>
          </p:cNvSpPr>
          <p:nvPr>
            <p:ph idx="1"/>
          </p:nvPr>
        </p:nvSpPr>
        <p:spPr/>
        <p:txBody>
          <a:bodyPr>
            <a:normAutofit/>
          </a:bodyPr>
          <a:lstStyle/>
          <a:p>
            <a:r>
              <a:rPr lang="en-US" sz="2800" dirty="0"/>
              <a:t>Given a data set, a subset of data objects forms a collective outlier if the objects as a whole deviate signiﬁcantly from the entire data set. </a:t>
            </a:r>
          </a:p>
          <a:p>
            <a:r>
              <a:rPr lang="en-US" sz="2800" dirty="0"/>
              <a:t>Importantly, the individual data objects may not be outliers.</a:t>
            </a:r>
          </a:p>
          <a:p>
            <a:endParaRPr lang="en-US" sz="2800" dirty="0"/>
          </a:p>
          <a:p>
            <a:endParaRPr lang="en-US"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976255"/>
            <a:ext cx="31432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76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Collective Outliers</a:t>
            </a:r>
          </a:p>
        </p:txBody>
      </p:sp>
      <p:sp>
        <p:nvSpPr>
          <p:cNvPr id="3" name="Content Placeholder 2"/>
          <p:cNvSpPr>
            <a:spLocks noGrp="1"/>
          </p:cNvSpPr>
          <p:nvPr>
            <p:ph idx="1"/>
          </p:nvPr>
        </p:nvSpPr>
        <p:spPr>
          <a:xfrm>
            <a:off x="0" y="1447800"/>
            <a:ext cx="9144000" cy="5410200"/>
          </a:xfrm>
        </p:spPr>
        <p:txBody>
          <a:bodyPr>
            <a:normAutofit fontScale="77500" lnSpcReduction="20000"/>
          </a:bodyPr>
          <a:lstStyle/>
          <a:p>
            <a:pPr marL="0" indent="0">
              <a:buNone/>
            </a:pPr>
            <a:r>
              <a:rPr lang="en-US" dirty="0"/>
              <a:t>Collective outlier detection has many important applications. </a:t>
            </a:r>
          </a:p>
          <a:p>
            <a:pPr marL="0" indent="0">
              <a:buNone/>
            </a:pPr>
            <a:r>
              <a:rPr lang="en-US" dirty="0"/>
              <a:t>In intrusion detection</a:t>
            </a:r>
          </a:p>
          <a:p>
            <a:r>
              <a:rPr lang="en-US" dirty="0"/>
              <a:t>A denial-of-service package from one computer to another is considered normal, and not an outlier at all. </a:t>
            </a:r>
          </a:p>
          <a:p>
            <a:r>
              <a:rPr lang="en-US" dirty="0"/>
              <a:t>However, if several computers keep sending denial-of-service packages to each other, they as a whole should be considered as a collective outlier. </a:t>
            </a:r>
          </a:p>
          <a:p>
            <a:r>
              <a:rPr lang="en-US" dirty="0"/>
              <a:t>The computers involved may be suspected of being compromised by an attack. </a:t>
            </a:r>
          </a:p>
          <a:p>
            <a:endParaRPr lang="en-US" dirty="0"/>
          </a:p>
          <a:p>
            <a:r>
              <a:rPr lang="en-US" dirty="0"/>
              <a:t>Stock transaction between two parties is considered normal. </a:t>
            </a:r>
          </a:p>
          <a:p>
            <a:r>
              <a:rPr lang="en-US" dirty="0"/>
              <a:t>However, a large set of transactions of the same stock among a small party in a short  period are collective outliers because they may be evidence of some people manipulating the market. </a:t>
            </a:r>
          </a:p>
        </p:txBody>
      </p:sp>
    </p:spTree>
    <p:extLst>
      <p:ext uri="{BB962C8B-B14F-4D97-AF65-F5344CB8AC3E}">
        <p14:creationId xmlns:p14="http://schemas.microsoft.com/office/powerpoint/2010/main" val="3831665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Collective Outliers</a:t>
            </a:r>
          </a:p>
        </p:txBody>
      </p:sp>
      <p:sp>
        <p:nvSpPr>
          <p:cNvPr id="3" name="Content Placeholder 2"/>
          <p:cNvSpPr>
            <a:spLocks noGrp="1"/>
          </p:cNvSpPr>
          <p:nvPr>
            <p:ph idx="1"/>
          </p:nvPr>
        </p:nvSpPr>
        <p:spPr>
          <a:xfrm>
            <a:off x="0" y="1600200"/>
            <a:ext cx="9144000" cy="5257800"/>
          </a:xfrm>
        </p:spPr>
        <p:txBody>
          <a:bodyPr/>
          <a:lstStyle/>
          <a:p>
            <a:r>
              <a:rPr lang="en-US" dirty="0"/>
              <a:t> In collective outlier detection we have to consider not only the behavior of individual objects, but also that of groups of objects. </a:t>
            </a:r>
          </a:p>
          <a:p>
            <a:r>
              <a:rPr lang="en-US" dirty="0"/>
              <a:t>Therefore, to detect collective outliers, we need background knowledge of the relationship among data objects such as distance or similarity measurements between objects. </a:t>
            </a:r>
          </a:p>
        </p:txBody>
      </p:sp>
    </p:spTree>
    <p:extLst>
      <p:ext uri="{BB962C8B-B14F-4D97-AF65-F5344CB8AC3E}">
        <p14:creationId xmlns:p14="http://schemas.microsoft.com/office/powerpoint/2010/main" val="2084626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lnSpcReduction="10000"/>
          </a:bodyPr>
          <a:lstStyle/>
          <a:p>
            <a:r>
              <a:rPr lang="en-US" dirty="0"/>
              <a:t>A data set can have multiple types of outliers. Moreover, an object may belong to more than one type of outlier. </a:t>
            </a:r>
          </a:p>
          <a:p>
            <a:pPr lvl="1"/>
            <a:r>
              <a:rPr lang="en-US" dirty="0"/>
              <a:t>Global outlier detection is the simplest. </a:t>
            </a:r>
          </a:p>
          <a:p>
            <a:pPr lvl="1"/>
            <a:r>
              <a:rPr lang="en-US" dirty="0"/>
              <a:t>Context outlier detection requires background information to determine contextual attributes and contexts. </a:t>
            </a:r>
          </a:p>
          <a:p>
            <a:pPr lvl="1"/>
            <a:r>
              <a:rPr lang="en-US" dirty="0"/>
              <a:t>Collective outlier detection requires background information to model the relationship among objects to ﬁnd groups of outliers</a:t>
            </a:r>
          </a:p>
        </p:txBody>
      </p:sp>
    </p:spTree>
    <p:extLst>
      <p:ext uri="{BB962C8B-B14F-4D97-AF65-F5344CB8AC3E}">
        <p14:creationId xmlns:p14="http://schemas.microsoft.com/office/powerpoint/2010/main" val="3342741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lgn="ctr">
              <a:buNone/>
            </a:pPr>
            <a:r>
              <a:rPr lang="en-US" sz="8000" b="1" dirty="0">
                <a:solidFill>
                  <a:srgbClr val="C00000"/>
                </a:solidFill>
                <a:latin typeface="Blackadder ITC" pitchFamily="82" charset="0"/>
              </a:rPr>
              <a:t>Thank You</a:t>
            </a:r>
          </a:p>
        </p:txBody>
      </p:sp>
    </p:spTree>
    <p:extLst>
      <p:ext uri="{BB962C8B-B14F-4D97-AF65-F5344CB8AC3E}">
        <p14:creationId xmlns:p14="http://schemas.microsoft.com/office/powerpoint/2010/main" val="2127705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1521</Words>
  <Application>Microsoft Office PowerPoint</Application>
  <PresentationFormat>On-screen Show (4:3)</PresentationFormat>
  <Paragraphs>105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Baskerville Old Face</vt:lpstr>
      <vt:lpstr>Blackadder ITC</vt:lpstr>
      <vt:lpstr>Calibri</vt:lpstr>
      <vt:lpstr>Office Theme</vt:lpstr>
      <vt:lpstr>Outlier Detection</vt:lpstr>
      <vt:lpstr>Credit Card Fraud Detection</vt:lpstr>
      <vt:lpstr>Credit Card Fraud Detection</vt:lpstr>
      <vt:lpstr>Outlier Detection</vt:lpstr>
      <vt:lpstr>Clustering vs Outlier Detection</vt:lpstr>
      <vt:lpstr>Outliers</vt:lpstr>
      <vt:lpstr>Outliers vs Noise</vt:lpstr>
      <vt:lpstr>Outliers</vt:lpstr>
      <vt:lpstr>Novelty Detection</vt:lpstr>
      <vt:lpstr>Types of Outliers </vt:lpstr>
      <vt:lpstr>Global Outliers</vt:lpstr>
      <vt:lpstr>Global Outliers</vt:lpstr>
      <vt:lpstr>Contextual outliers </vt:lpstr>
      <vt:lpstr>Contextual outliers </vt:lpstr>
      <vt:lpstr>Contextual outliers</vt:lpstr>
      <vt:lpstr>Contextual outliers</vt:lpstr>
      <vt:lpstr>Collective Outliers</vt:lpstr>
      <vt:lpstr>Collective Outliers</vt:lpstr>
      <vt:lpstr>Collective Outliers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Outlier Detection</dc:title>
  <dc:creator>SIVA RGUKT</dc:creator>
  <cp:lastModifiedBy>sri lakshmi</cp:lastModifiedBy>
  <cp:revision>21</cp:revision>
  <dcterms:created xsi:type="dcterms:W3CDTF">2006-08-16T00:00:00Z</dcterms:created>
  <dcterms:modified xsi:type="dcterms:W3CDTF">2024-11-04T16:18:42Z</dcterms:modified>
</cp:coreProperties>
</file>